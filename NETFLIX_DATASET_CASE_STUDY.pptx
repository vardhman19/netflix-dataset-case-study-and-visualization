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88782A-E63E-4607-A01F-3E8977CF63C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771114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88782A-E63E-4607-A01F-3E8977CF63C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4019249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88782A-E63E-4607-A01F-3E8977CF63C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385638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B88782A-E63E-4607-A01F-3E8977CF63CE}"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3454153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B88782A-E63E-4607-A01F-3E8977CF63CE}"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274466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88782A-E63E-4607-A01F-3E8977CF63CE}"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3293152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88782A-E63E-4607-A01F-3E8977CF63CE}"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2357824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88782A-E63E-4607-A01F-3E8977CF63CE}"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2012869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88782A-E63E-4607-A01F-3E8977CF63CE}"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1126420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88782A-E63E-4607-A01F-3E8977CF63C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1079812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88782A-E63E-4607-A01F-3E8977CF63CE}"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3B707-46EE-4395-8840-CD7B28F79997}" type="slidenum">
              <a:rPr lang="en-US" smtClean="0"/>
              <a:t>‹#›</a:t>
            </a:fld>
            <a:endParaRPr lang="en-US"/>
          </a:p>
        </p:txBody>
      </p:sp>
    </p:spTree>
    <p:extLst>
      <p:ext uri="{BB962C8B-B14F-4D97-AF65-F5344CB8AC3E}">
        <p14:creationId xmlns:p14="http://schemas.microsoft.com/office/powerpoint/2010/main" val="263999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88782A-E63E-4607-A01F-3E8977CF63CE}" type="datetimeFigureOut">
              <a:rPr lang="en-US" smtClean="0"/>
              <a:t>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93B707-46EE-4395-8840-CD7B28F79997}" type="slidenum">
              <a:rPr lang="en-US" smtClean="0"/>
              <a:t>‹#›</a:t>
            </a:fld>
            <a:endParaRPr lang="en-US"/>
          </a:p>
        </p:txBody>
      </p:sp>
    </p:spTree>
    <p:extLst>
      <p:ext uri="{BB962C8B-B14F-4D97-AF65-F5344CB8AC3E}">
        <p14:creationId xmlns:p14="http://schemas.microsoft.com/office/powerpoint/2010/main" val="1740576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Netflix Dataset Case Study and Visualization</a:t>
            </a:r>
            <a:endParaRPr lang="en-US" dirty="0"/>
          </a:p>
        </p:txBody>
      </p:sp>
      <p:sp>
        <p:nvSpPr>
          <p:cNvPr id="3" name="Subtitle 2"/>
          <p:cNvSpPr>
            <a:spLocks noGrp="1"/>
          </p:cNvSpPr>
          <p:nvPr>
            <p:ph type="subTitle" idx="1"/>
          </p:nvPr>
        </p:nvSpPr>
        <p:spPr>
          <a:xfrm>
            <a:off x="1455633" y="4080603"/>
            <a:ext cx="9144000" cy="1655762"/>
          </a:xfrm>
        </p:spPr>
        <p:txBody>
          <a:bodyPr>
            <a:normAutofit/>
          </a:bodyPr>
          <a:lstStyle/>
          <a:p>
            <a:r>
              <a:rPr lang="en-US" sz="3200" dirty="0" smtClean="0"/>
              <a:t>POWERBI Project Presentation </a:t>
            </a:r>
            <a:endParaRPr lang="en-US" sz="3200" dirty="0"/>
          </a:p>
        </p:txBody>
      </p:sp>
    </p:spTree>
    <p:extLst>
      <p:ext uri="{BB962C8B-B14F-4D97-AF65-F5344CB8AC3E}">
        <p14:creationId xmlns:p14="http://schemas.microsoft.com/office/powerpoint/2010/main" val="354388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608" y="322396"/>
            <a:ext cx="10515600" cy="1325563"/>
          </a:xfrm>
        </p:spPr>
        <p:txBody>
          <a:bodyPr/>
          <a:lstStyle/>
          <a:p>
            <a:r>
              <a:rPr lang="en-US" b="1" u="sng" dirty="0"/>
              <a:t>Overview:</a:t>
            </a:r>
            <a:r>
              <a:rPr lang="en-US" u="sng" dirty="0"/>
              <a:t> </a:t>
            </a:r>
            <a:r>
              <a:rPr lang="en-US" dirty="0"/>
              <a:t/>
            </a:r>
            <a:br>
              <a:rPr lang="en-US" dirty="0"/>
            </a:br>
            <a:endParaRPr lang="en-US" dirty="0"/>
          </a:p>
        </p:txBody>
      </p:sp>
      <p:sp>
        <p:nvSpPr>
          <p:cNvPr id="3" name="Content Placeholder 2"/>
          <p:cNvSpPr>
            <a:spLocks noGrp="1"/>
          </p:cNvSpPr>
          <p:nvPr>
            <p:ph idx="1"/>
          </p:nvPr>
        </p:nvSpPr>
        <p:spPr>
          <a:xfrm>
            <a:off x="791911" y="1483793"/>
            <a:ext cx="10515600" cy="4351338"/>
          </a:xfrm>
        </p:spPr>
        <p:txBody>
          <a:bodyPr/>
          <a:lstStyle/>
          <a:p>
            <a:pPr marL="0" indent="0">
              <a:buNone/>
            </a:pPr>
            <a:r>
              <a:rPr lang="en-US" dirty="0"/>
              <a:t>● </a:t>
            </a:r>
            <a:r>
              <a:rPr lang="en-US" dirty="0" err="1"/>
              <a:t>Analyse</a:t>
            </a:r>
            <a:r>
              <a:rPr lang="en-US" dirty="0"/>
              <a:t> and </a:t>
            </a:r>
            <a:r>
              <a:rPr lang="en-US" dirty="0" err="1"/>
              <a:t>visualise</a:t>
            </a:r>
            <a:r>
              <a:rPr lang="en-US" dirty="0"/>
              <a:t> a real-life dataset and generate insights out of it.</a:t>
            </a:r>
          </a:p>
          <a:p>
            <a:pPr marL="0" indent="0">
              <a:buNone/>
            </a:pPr>
            <a:r>
              <a:rPr lang="en-US" dirty="0"/>
              <a:t>● Get answers to questions around a dataset through Power BI </a:t>
            </a:r>
            <a:r>
              <a:rPr lang="en-US" dirty="0" err="1"/>
              <a:t>visualisations</a:t>
            </a:r>
            <a:r>
              <a:rPr lang="en-US" dirty="0"/>
              <a:t>.</a:t>
            </a:r>
          </a:p>
          <a:p>
            <a:endParaRPr lang="en-US" dirty="0"/>
          </a:p>
        </p:txBody>
      </p:sp>
    </p:spTree>
    <p:extLst>
      <p:ext uri="{BB962C8B-B14F-4D97-AF65-F5344CB8AC3E}">
        <p14:creationId xmlns:p14="http://schemas.microsoft.com/office/powerpoint/2010/main" val="3945930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 Details </a:t>
            </a:r>
            <a:endParaRPr lang="en-US" dirty="0"/>
          </a:p>
        </p:txBody>
      </p:sp>
      <p:sp>
        <p:nvSpPr>
          <p:cNvPr id="3" name="Content Placeholder 2"/>
          <p:cNvSpPr>
            <a:spLocks noGrp="1"/>
          </p:cNvSpPr>
          <p:nvPr>
            <p:ph idx="1"/>
          </p:nvPr>
        </p:nvSpPr>
        <p:spPr>
          <a:xfrm>
            <a:off x="838200" y="1611980"/>
            <a:ext cx="10515600" cy="4351338"/>
          </a:xfrm>
        </p:spPr>
        <p:txBody>
          <a:bodyPr>
            <a:normAutofit fontScale="92500" lnSpcReduction="20000"/>
          </a:bodyPr>
          <a:lstStyle/>
          <a:p>
            <a:pPr marL="0" indent="0">
              <a:buNone/>
            </a:pPr>
            <a:r>
              <a:rPr lang="en-US" dirty="0"/>
              <a:t>The dataset needs to be understood and explored first. This step can be done in either Excel or Power BI. We will </a:t>
            </a:r>
            <a:r>
              <a:rPr lang="en-US" dirty="0" err="1"/>
              <a:t>scrutinise</a:t>
            </a:r>
            <a:r>
              <a:rPr lang="en-US" dirty="0"/>
              <a:t> the useful fields to understand the meaning and data distribution of each. </a:t>
            </a:r>
          </a:p>
          <a:p>
            <a:pPr marL="0" indent="0">
              <a:buNone/>
            </a:pPr>
            <a:r>
              <a:rPr lang="en-US" dirty="0" smtClean="0"/>
              <a:t>● </a:t>
            </a:r>
            <a:r>
              <a:rPr lang="en-US" dirty="0" smtClean="0"/>
              <a:t>id</a:t>
            </a:r>
            <a:r>
              <a:rPr lang="en-US" dirty="0"/>
              <a:t>: A unique count of this ID would be useful while calculating and understanding trends. Example: The number of movies released in 2020 would simply be a unique count of the ID field.</a:t>
            </a:r>
          </a:p>
          <a:p>
            <a:pPr marL="0" indent="0">
              <a:buNone/>
            </a:pPr>
            <a:r>
              <a:rPr lang="en-US" dirty="0" smtClean="0"/>
              <a:t>● </a:t>
            </a:r>
            <a:r>
              <a:rPr lang="en-US" dirty="0" err="1"/>
              <a:t>release_year</a:t>
            </a:r>
            <a:r>
              <a:rPr lang="en-US" dirty="0"/>
              <a:t>: At the outset, it seems that it includes movies from 1953 to 2022, i.e. 70 years of data. But on closer inspection, we notice that some years are missing e.g. 1955, 1957. </a:t>
            </a:r>
          </a:p>
          <a:p>
            <a:pPr marL="0" indent="0">
              <a:buNone/>
            </a:pPr>
            <a:r>
              <a:rPr lang="en-US" dirty="0"/>
              <a:t>● title: The dataset becomes very interesting as many of the titles can be </a:t>
            </a:r>
            <a:r>
              <a:rPr lang="en-US" dirty="0" err="1"/>
              <a:t>recognised</a:t>
            </a:r>
            <a:r>
              <a:rPr lang="en-US" dirty="0"/>
              <a:t>. </a:t>
            </a:r>
          </a:p>
          <a:p>
            <a:pPr marL="0" indent="0">
              <a:buNone/>
            </a:pPr>
            <a:r>
              <a:rPr lang="en-US" dirty="0"/>
              <a:t>● type: If we use the FILTER option in Excel to see the different TYPE values that are there, we will see two: MOVIE and SHOW. </a:t>
            </a:r>
          </a:p>
          <a:p>
            <a:endParaRPr lang="en-US" dirty="0"/>
          </a:p>
        </p:txBody>
      </p:sp>
    </p:spTree>
    <p:extLst>
      <p:ext uri="{BB962C8B-B14F-4D97-AF65-F5344CB8AC3E}">
        <p14:creationId xmlns:p14="http://schemas.microsoft.com/office/powerpoint/2010/main" val="1939807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202" y="452928"/>
            <a:ext cx="10849598" cy="5580404"/>
          </a:xfrm>
        </p:spPr>
        <p:txBody>
          <a:bodyPr>
            <a:normAutofit fontScale="92500" lnSpcReduction="20000"/>
          </a:bodyPr>
          <a:lstStyle/>
          <a:p>
            <a:pPr marL="0" indent="0">
              <a:buNone/>
            </a:pPr>
            <a:r>
              <a:rPr lang="en-US" dirty="0" smtClean="0"/>
              <a:t>● </a:t>
            </a:r>
            <a:r>
              <a:rPr lang="en-US" dirty="0" smtClean="0"/>
              <a:t>description</a:t>
            </a:r>
            <a:r>
              <a:rPr lang="en-US" dirty="0"/>
              <a:t>: Although for our analysis, description may not be very important but we can extract keywords out of it and use machine learning to extract information like the genre of the movie/show.</a:t>
            </a:r>
          </a:p>
          <a:p>
            <a:pPr marL="0" indent="0">
              <a:buNone/>
            </a:pPr>
            <a:r>
              <a:rPr lang="en-US" dirty="0" smtClean="0"/>
              <a:t>● </a:t>
            </a:r>
            <a:r>
              <a:rPr lang="en-US" dirty="0" err="1"/>
              <a:t>age_certification</a:t>
            </a:r>
            <a:r>
              <a:rPr lang="en-US" dirty="0"/>
              <a:t>: Something to note here is that in many cases age certification is missing. We may want to handle missing values separately in some cases, but here since there is no effective way to substitute this missing information, we will leave it as is for our analysis. </a:t>
            </a:r>
            <a:endParaRPr lang="en-US" dirty="0" smtClean="0"/>
          </a:p>
          <a:p>
            <a:pPr marL="0" indent="0">
              <a:buNone/>
            </a:pPr>
            <a:r>
              <a:rPr lang="en-US" dirty="0" smtClean="0"/>
              <a:t>● runtime: Although it is not mentioned, it is clear that runtime is in minutes. One should see the range of values, </a:t>
            </a:r>
            <a:r>
              <a:rPr lang="en-US" dirty="0" err="1" smtClean="0"/>
              <a:t>visualise</a:t>
            </a:r>
            <a:r>
              <a:rPr lang="en-US" dirty="0" smtClean="0"/>
              <a:t> the distribution and if required, handle outliers in this field. </a:t>
            </a:r>
          </a:p>
          <a:p>
            <a:pPr marL="0" indent="0">
              <a:buNone/>
            </a:pPr>
            <a:r>
              <a:rPr lang="en-US" dirty="0" smtClean="0"/>
              <a:t>● </a:t>
            </a:r>
            <a:r>
              <a:rPr lang="en-US" dirty="0" err="1" smtClean="0"/>
              <a:t>imdb_score</a:t>
            </a:r>
            <a:r>
              <a:rPr lang="en-US" dirty="0" smtClean="0"/>
              <a:t>: This is the </a:t>
            </a:r>
            <a:r>
              <a:rPr lang="en-US" dirty="0" err="1" smtClean="0"/>
              <a:t>IMDb</a:t>
            </a:r>
            <a:r>
              <a:rPr lang="en-US" dirty="0" smtClean="0"/>
              <a:t> rating of the movie/show. This tells us how well the movie was rated by the voters. </a:t>
            </a:r>
          </a:p>
          <a:p>
            <a:pPr marL="0" indent="0">
              <a:buNone/>
            </a:pPr>
            <a:r>
              <a:rPr lang="en-US" dirty="0" smtClean="0"/>
              <a:t>● </a:t>
            </a:r>
            <a:r>
              <a:rPr lang="en-US" dirty="0" err="1"/>
              <a:t>imdb_votes</a:t>
            </a:r>
            <a:r>
              <a:rPr lang="en-US" dirty="0"/>
              <a:t>: This is the number of people who voted on </a:t>
            </a:r>
            <a:r>
              <a:rPr lang="en-US" dirty="0" err="1"/>
              <a:t>IMDb</a:t>
            </a:r>
            <a:r>
              <a:rPr lang="en-US" dirty="0"/>
              <a:t> for a movie or show. It is important to </a:t>
            </a:r>
            <a:r>
              <a:rPr lang="en-US" dirty="0" err="1"/>
              <a:t>recognise</a:t>
            </a:r>
            <a:r>
              <a:rPr lang="en-US" dirty="0"/>
              <a:t> that this leads to a lot of subjectivity because if very few people have voted for a movie/show its </a:t>
            </a:r>
            <a:r>
              <a:rPr lang="en-US" dirty="0" err="1"/>
              <a:t>imdb_score</a:t>
            </a:r>
            <a:r>
              <a:rPr lang="en-US" dirty="0"/>
              <a:t> will not be very reliable. The dataset has 5283 records and this data includes both movies and shows.</a:t>
            </a:r>
          </a:p>
          <a:p>
            <a:endParaRPr lang="en-US" dirty="0"/>
          </a:p>
        </p:txBody>
      </p:sp>
    </p:spTree>
    <p:extLst>
      <p:ext uri="{BB962C8B-B14F-4D97-AF65-F5344CB8AC3E}">
        <p14:creationId xmlns:p14="http://schemas.microsoft.com/office/powerpoint/2010/main" val="696022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Cleaning and Manipulation in Power Query Editor</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To make more sense out of our Netflix Dataset, one manipulation we did is to create a custom column that is a combination of both </a:t>
            </a:r>
            <a:r>
              <a:rPr lang="en-US" dirty="0" err="1" smtClean="0"/>
              <a:t>IMDb</a:t>
            </a:r>
            <a:r>
              <a:rPr lang="en-US" dirty="0" smtClean="0"/>
              <a:t> score (</a:t>
            </a:r>
            <a:r>
              <a:rPr lang="en-US" dirty="0" err="1" smtClean="0"/>
              <a:t>imdb_score</a:t>
            </a:r>
            <a:r>
              <a:rPr lang="en-US" dirty="0" smtClean="0"/>
              <a:t>) and number of votes (</a:t>
            </a:r>
            <a:r>
              <a:rPr lang="en-US" dirty="0" err="1" smtClean="0"/>
              <a:t>imdb_votes</a:t>
            </a:r>
            <a:r>
              <a:rPr lang="en-US" dirty="0" smtClean="0"/>
              <a:t>). Score alone may not be sufficient to conclude anything about a movie/show. </a:t>
            </a:r>
          </a:p>
          <a:p>
            <a:pPr marL="0" indent="0">
              <a:buNone/>
            </a:pPr>
            <a:r>
              <a:rPr lang="en-US" dirty="0" smtClean="0"/>
              <a:t>Example: What if only one person voted for the movie and the rating given by that person is a 9.5. Does this mean that the movie is better than most of the movies? Maybe not. We would want to prefer watching a movie that is rated highly by many people. We will hence definitely prefer one that has a 9 rating but has been voted by 50000 people. Hence, we should not see either </a:t>
            </a:r>
            <a:r>
              <a:rPr lang="en-US" dirty="0" err="1" smtClean="0"/>
              <a:t>IMDb</a:t>
            </a:r>
            <a:r>
              <a:rPr lang="en-US" dirty="0" smtClean="0"/>
              <a:t> score or </a:t>
            </a:r>
            <a:r>
              <a:rPr lang="en-US" dirty="0" err="1" smtClean="0"/>
              <a:t>IMDb</a:t>
            </a:r>
            <a:r>
              <a:rPr lang="en-US" dirty="0" smtClean="0"/>
              <a:t> votes in isolation. It may be more useful for us to combine both columns and one meaningful way to do that is to multiply scores and votes. This is where a custom column becomes useful.</a:t>
            </a:r>
            <a:endParaRPr lang="en-US" dirty="0"/>
          </a:p>
        </p:txBody>
      </p:sp>
    </p:spTree>
    <p:extLst>
      <p:ext uri="{BB962C8B-B14F-4D97-AF65-F5344CB8AC3E}">
        <p14:creationId xmlns:p14="http://schemas.microsoft.com/office/powerpoint/2010/main" val="3018993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0767" y="658382"/>
            <a:ext cx="11887200" cy="6019800"/>
          </a:xfrm>
          <a:prstGeom prst="rect">
            <a:avLst/>
          </a:prstGeom>
        </p:spPr>
      </p:pic>
      <p:sp>
        <p:nvSpPr>
          <p:cNvPr id="3" name="Rectangle 2"/>
          <p:cNvSpPr/>
          <p:nvPr/>
        </p:nvSpPr>
        <p:spPr>
          <a:xfrm>
            <a:off x="2298819" y="264920"/>
            <a:ext cx="6187155" cy="4614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Custom Column</a:t>
            </a:r>
            <a:endParaRPr lang="en-US" dirty="0"/>
          </a:p>
        </p:txBody>
      </p:sp>
    </p:spTree>
    <p:extLst>
      <p:ext uri="{BB962C8B-B14F-4D97-AF65-F5344CB8AC3E}">
        <p14:creationId xmlns:p14="http://schemas.microsoft.com/office/powerpoint/2010/main" val="100749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468" y="0"/>
            <a:ext cx="10515600" cy="1325563"/>
          </a:xfrm>
        </p:spPr>
        <p:txBody>
          <a:bodyPr/>
          <a:lstStyle/>
          <a:p>
            <a:r>
              <a:rPr lang="en-US" b="1" u="sng" dirty="0" smtClean="0"/>
              <a:t>Observations:</a:t>
            </a:r>
            <a:r>
              <a:rPr lang="en-US" dirty="0" smtClean="0"/>
              <a:t> </a:t>
            </a:r>
            <a:endParaRPr lang="en-US" dirty="0"/>
          </a:p>
        </p:txBody>
      </p:sp>
      <p:sp>
        <p:nvSpPr>
          <p:cNvPr id="3" name="Content Placeholder 2"/>
          <p:cNvSpPr>
            <a:spLocks noGrp="1"/>
          </p:cNvSpPr>
          <p:nvPr>
            <p:ph idx="1"/>
          </p:nvPr>
        </p:nvSpPr>
        <p:spPr>
          <a:xfrm>
            <a:off x="769833" y="1184690"/>
            <a:ext cx="10515600" cy="4351338"/>
          </a:xfrm>
        </p:spPr>
        <p:txBody>
          <a:bodyPr>
            <a:normAutofit fontScale="92500" lnSpcReduction="20000"/>
          </a:bodyPr>
          <a:lstStyle/>
          <a:p>
            <a:r>
              <a:rPr lang="en-US" sz="3000" dirty="0" smtClean="0"/>
              <a:t>Further, we have dropped the index and </a:t>
            </a:r>
            <a:r>
              <a:rPr lang="en-US" sz="3000" dirty="0" err="1" smtClean="0"/>
              <a:t>imdb_id</a:t>
            </a:r>
            <a:r>
              <a:rPr lang="en-US" sz="3000" dirty="0" smtClean="0"/>
              <a:t> columns as they may not be useful for our analysis and will not be required.</a:t>
            </a:r>
          </a:p>
          <a:p>
            <a:r>
              <a:rPr lang="en-US" sz="3000" dirty="0" smtClean="0"/>
              <a:t>A closer look at </a:t>
            </a:r>
            <a:r>
              <a:rPr lang="en-US" sz="3000" dirty="0" err="1" smtClean="0"/>
              <a:t>imdb_votes</a:t>
            </a:r>
            <a:r>
              <a:rPr lang="en-US" sz="3000" dirty="0" smtClean="0"/>
              <a:t> reveals that there are movies/shows where </a:t>
            </a:r>
            <a:r>
              <a:rPr lang="en-US" sz="3000" dirty="0" err="1" smtClean="0"/>
              <a:t>IMDb</a:t>
            </a:r>
            <a:r>
              <a:rPr lang="en-US" sz="3000" dirty="0" smtClean="0"/>
              <a:t> votes are absent. While we cannot remove these rows since they have other valuable data, we have ignore these rows when </a:t>
            </a:r>
            <a:r>
              <a:rPr lang="en-US" sz="3000" dirty="0" err="1" smtClean="0"/>
              <a:t>analysing</a:t>
            </a:r>
            <a:r>
              <a:rPr lang="en-US" sz="3000" dirty="0" smtClean="0"/>
              <a:t> votes.</a:t>
            </a:r>
          </a:p>
          <a:p>
            <a:pPr marL="0" indent="0">
              <a:buNone/>
            </a:pPr>
            <a:endParaRPr lang="en-US" sz="3000" dirty="0"/>
          </a:p>
          <a:p>
            <a:pPr marL="0" indent="0">
              <a:buNone/>
            </a:pPr>
            <a:r>
              <a:rPr lang="en-US" sz="3200" b="1" u="sng" dirty="0" smtClean="0"/>
              <a:t>Loading Data and Creating a Model: </a:t>
            </a:r>
          </a:p>
          <a:p>
            <a:pPr marL="0" indent="0">
              <a:buNone/>
            </a:pPr>
            <a:r>
              <a:rPr lang="en-US" sz="3100" dirty="0" smtClean="0"/>
              <a:t>After cleaning and manipulation is done, we can move to creating a model in Power BI. Since we are using only one dataset, it is not required to create a model.</a:t>
            </a:r>
            <a:endParaRPr lang="en-US" sz="3100" u="sng" dirty="0" smtClean="0"/>
          </a:p>
        </p:txBody>
      </p:sp>
    </p:spTree>
    <p:extLst>
      <p:ext uri="{BB962C8B-B14F-4D97-AF65-F5344CB8AC3E}">
        <p14:creationId xmlns:p14="http://schemas.microsoft.com/office/powerpoint/2010/main" val="1283897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err="1" smtClean="0"/>
              <a:t>Visualisations</a:t>
            </a:r>
            <a:endParaRPr lang="en-US" u="sng" dirty="0"/>
          </a:p>
        </p:txBody>
      </p:sp>
      <p:sp>
        <p:nvSpPr>
          <p:cNvPr id="3" name="Content Placeholder 2"/>
          <p:cNvSpPr>
            <a:spLocks noGrp="1"/>
          </p:cNvSpPr>
          <p:nvPr>
            <p:ph idx="1"/>
          </p:nvPr>
        </p:nvSpPr>
        <p:spPr/>
        <p:txBody>
          <a:bodyPr/>
          <a:lstStyle/>
          <a:p>
            <a:pPr marL="0" indent="0">
              <a:buNone/>
            </a:pPr>
            <a:r>
              <a:rPr lang="en-US" dirty="0" smtClean="0"/>
              <a:t>It is a good practice to start with selecting a theme. Next, we can have created slicers. In this case we have created two slicers: one for type and the other for release year. </a:t>
            </a:r>
          </a:p>
          <a:p>
            <a:pPr marL="0" indent="0">
              <a:buNone/>
            </a:pP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838200" y="3346524"/>
            <a:ext cx="10353675" cy="2352675"/>
          </a:xfrm>
          <a:prstGeom prst="rect">
            <a:avLst/>
          </a:prstGeom>
        </p:spPr>
      </p:pic>
    </p:spTree>
    <p:extLst>
      <p:ext uri="{BB962C8B-B14F-4D97-AF65-F5344CB8AC3E}">
        <p14:creationId xmlns:p14="http://schemas.microsoft.com/office/powerpoint/2010/main" val="735774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28942" y="162371"/>
            <a:ext cx="10526446" cy="786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Problem Statement 1 :</a:t>
            </a:r>
          </a:p>
          <a:p>
            <a:r>
              <a:rPr lang="en-US" dirty="0" smtClean="0"/>
              <a:t>Which was the best movie and TV show overall in the last 50 years? </a:t>
            </a:r>
            <a:endParaRPr lang="en-US" dirty="0"/>
          </a:p>
        </p:txBody>
      </p:sp>
      <p:pic>
        <p:nvPicPr>
          <p:cNvPr id="10" name="Picture 9"/>
          <p:cNvPicPr>
            <a:picLocks noChangeAspect="1"/>
          </p:cNvPicPr>
          <p:nvPr/>
        </p:nvPicPr>
        <p:blipFill>
          <a:blip r:embed="rId2"/>
          <a:stretch>
            <a:fillRect/>
          </a:stretch>
        </p:blipFill>
        <p:spPr>
          <a:xfrm>
            <a:off x="828942" y="1243265"/>
            <a:ext cx="10526446" cy="3996109"/>
          </a:xfrm>
          <a:prstGeom prst="rect">
            <a:avLst/>
          </a:prstGeom>
        </p:spPr>
      </p:pic>
      <p:sp>
        <p:nvSpPr>
          <p:cNvPr id="11" name="Rectangle 10"/>
          <p:cNvSpPr/>
          <p:nvPr/>
        </p:nvSpPr>
        <p:spPr>
          <a:xfrm>
            <a:off x="700755" y="5400942"/>
            <a:ext cx="10750609" cy="1281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 </a:t>
            </a:r>
          </a:p>
          <a:p>
            <a:r>
              <a:rPr lang="en-US" dirty="0" smtClean="0"/>
              <a:t>From the visualization, </a:t>
            </a:r>
            <a:r>
              <a:rPr lang="en-US" i="1" dirty="0" smtClean="0"/>
              <a:t>Inception</a:t>
            </a:r>
            <a:r>
              <a:rPr lang="en-US" dirty="0" smtClean="0"/>
              <a:t> has received the highest number of rating votes, indicating that it is the among the most popular and well-received titles over the last 50 years</a:t>
            </a:r>
            <a:endParaRPr lang="en-US" dirty="0"/>
          </a:p>
        </p:txBody>
      </p:sp>
    </p:spTree>
    <p:extLst>
      <p:ext uri="{BB962C8B-B14F-4D97-AF65-F5344CB8AC3E}">
        <p14:creationId xmlns:p14="http://schemas.microsoft.com/office/powerpoint/2010/main" val="2805192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8942" y="162371"/>
            <a:ext cx="10526446" cy="786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Problem Statement 2 :</a:t>
            </a:r>
          </a:p>
          <a:p>
            <a:r>
              <a:rPr lang="en-US" dirty="0" smtClean="0"/>
              <a:t>How many movies do we have in our dataset across the last few years? </a:t>
            </a:r>
          </a:p>
        </p:txBody>
      </p:sp>
      <p:pic>
        <p:nvPicPr>
          <p:cNvPr id="3" name="Picture 2"/>
          <p:cNvPicPr>
            <a:picLocks noChangeAspect="1"/>
          </p:cNvPicPr>
          <p:nvPr/>
        </p:nvPicPr>
        <p:blipFill>
          <a:blip r:embed="rId2"/>
          <a:stretch>
            <a:fillRect/>
          </a:stretch>
        </p:blipFill>
        <p:spPr>
          <a:xfrm>
            <a:off x="828942" y="1083436"/>
            <a:ext cx="10526446" cy="4199221"/>
          </a:xfrm>
          <a:prstGeom prst="rect">
            <a:avLst/>
          </a:prstGeom>
        </p:spPr>
      </p:pic>
      <p:sp>
        <p:nvSpPr>
          <p:cNvPr id="4" name="Rectangle 3"/>
          <p:cNvSpPr/>
          <p:nvPr/>
        </p:nvSpPr>
        <p:spPr>
          <a:xfrm>
            <a:off x="828942" y="5477855"/>
            <a:ext cx="10526447" cy="1153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 </a:t>
            </a:r>
            <a:br>
              <a:rPr lang="en-US" dirty="0" smtClean="0"/>
            </a:br>
            <a:r>
              <a:rPr lang="en-US" dirty="0" smtClean="0"/>
              <a:t>The dataset shows a significant increase in the number of movies produced after the 2000s, peaking around 2018–2020. This indicates rapid growth in global film production driven by digital platforms and easier content creation. A slight dip after 2020 may reflect disruptions caused by the COVID-19 pandemic.</a:t>
            </a:r>
          </a:p>
        </p:txBody>
      </p:sp>
    </p:spTree>
    <p:extLst>
      <p:ext uri="{BB962C8B-B14F-4D97-AF65-F5344CB8AC3E}">
        <p14:creationId xmlns:p14="http://schemas.microsoft.com/office/powerpoint/2010/main" val="1969871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8942" y="162371"/>
            <a:ext cx="10526446" cy="786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Problem Statement 3 :</a:t>
            </a:r>
          </a:p>
          <a:p>
            <a:r>
              <a:rPr lang="en-US" dirty="0" smtClean="0"/>
              <a:t>Across the last 50 years, how has the average </a:t>
            </a:r>
            <a:r>
              <a:rPr lang="en-US" dirty="0" err="1" smtClean="0"/>
              <a:t>IMDb</a:t>
            </a:r>
            <a:r>
              <a:rPr lang="en-US" dirty="0" smtClean="0"/>
              <a:t> score varied?</a:t>
            </a:r>
          </a:p>
        </p:txBody>
      </p:sp>
      <p:pic>
        <p:nvPicPr>
          <p:cNvPr id="3" name="Picture 2"/>
          <p:cNvPicPr>
            <a:picLocks noChangeAspect="1"/>
          </p:cNvPicPr>
          <p:nvPr/>
        </p:nvPicPr>
        <p:blipFill>
          <a:blip r:embed="rId2"/>
          <a:stretch>
            <a:fillRect/>
          </a:stretch>
        </p:blipFill>
        <p:spPr>
          <a:xfrm>
            <a:off x="828942" y="1239140"/>
            <a:ext cx="10526446" cy="4025069"/>
          </a:xfrm>
          <a:prstGeom prst="rect">
            <a:avLst/>
          </a:prstGeom>
        </p:spPr>
      </p:pic>
      <p:sp>
        <p:nvSpPr>
          <p:cNvPr id="4" name="Rectangle 3"/>
          <p:cNvSpPr/>
          <p:nvPr/>
        </p:nvSpPr>
        <p:spPr>
          <a:xfrm>
            <a:off x="828942" y="5554766"/>
            <a:ext cx="10526446" cy="13032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br>
              <a:rPr lang="en-US" dirty="0" smtClean="0"/>
            </a:br>
            <a:r>
              <a:rPr lang="en-US" dirty="0" smtClean="0"/>
              <a:t>The average </a:t>
            </a:r>
            <a:r>
              <a:rPr lang="en-US" dirty="0" err="1" smtClean="0"/>
              <a:t>IMDb</a:t>
            </a:r>
            <a:r>
              <a:rPr lang="en-US" dirty="0" smtClean="0"/>
              <a:t> score has fluctuated over the last 50 years, showing high variability during earlier decades and stabilizing around a range of 6.5–7.0 in recent years. This suggests that while movie quality has become more consistent, fewer exceptionally high-rated films are being produced compared to earlier periods. </a:t>
            </a:r>
            <a:br>
              <a:rPr lang="en-US" dirty="0" smtClean="0"/>
            </a:br>
            <a:endParaRPr lang="en-US" dirty="0" smtClean="0"/>
          </a:p>
        </p:txBody>
      </p:sp>
    </p:spTree>
    <p:extLst>
      <p:ext uri="{BB962C8B-B14F-4D97-AF65-F5344CB8AC3E}">
        <p14:creationId xmlns:p14="http://schemas.microsoft.com/office/powerpoint/2010/main" val="412891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28942" y="162371"/>
            <a:ext cx="10526446" cy="786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Problem Statement 4 :</a:t>
            </a:r>
            <a:br>
              <a:rPr lang="en-US" dirty="0" smtClean="0"/>
            </a:br>
            <a:r>
              <a:rPr lang="en-US" dirty="0" smtClean="0"/>
              <a:t>Have more people started voting for movies/shows on </a:t>
            </a:r>
            <a:r>
              <a:rPr lang="en-US" dirty="0" err="1" smtClean="0"/>
              <a:t>IMDb</a:t>
            </a:r>
            <a:r>
              <a:rPr lang="en-US" dirty="0" smtClean="0"/>
              <a:t> over the last 50 years? </a:t>
            </a:r>
          </a:p>
        </p:txBody>
      </p:sp>
      <p:pic>
        <p:nvPicPr>
          <p:cNvPr id="5" name="Picture 4"/>
          <p:cNvPicPr>
            <a:picLocks noChangeAspect="1"/>
          </p:cNvPicPr>
          <p:nvPr/>
        </p:nvPicPr>
        <p:blipFill>
          <a:blip r:embed="rId2"/>
          <a:stretch>
            <a:fillRect/>
          </a:stretch>
        </p:blipFill>
        <p:spPr>
          <a:xfrm>
            <a:off x="828942" y="1071057"/>
            <a:ext cx="10630968" cy="4158969"/>
          </a:xfrm>
          <a:prstGeom prst="rect">
            <a:avLst/>
          </a:prstGeom>
        </p:spPr>
      </p:pic>
      <p:sp>
        <p:nvSpPr>
          <p:cNvPr id="6" name="Rectangle 5"/>
          <p:cNvSpPr/>
          <p:nvPr/>
        </p:nvSpPr>
        <p:spPr>
          <a:xfrm>
            <a:off x="846034" y="5554767"/>
            <a:ext cx="10526446" cy="13032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 The number of </a:t>
            </a:r>
            <a:r>
              <a:rPr lang="en-US" dirty="0" err="1" smtClean="0"/>
              <a:t>IMDb</a:t>
            </a:r>
            <a:r>
              <a:rPr lang="en-US" dirty="0" smtClean="0"/>
              <a:t> votes has increased dramatically over the last 50 years, especially after 2000. This shows a surge in audience engagement due to wider internet access, growing popularity of online ratings, and increased use of digital streaming platforms.</a:t>
            </a:r>
            <a:endParaRPr lang="en-US" dirty="0"/>
          </a:p>
        </p:txBody>
      </p:sp>
    </p:spTree>
    <p:extLst>
      <p:ext uri="{BB962C8B-B14F-4D97-AF65-F5344CB8AC3E}">
        <p14:creationId xmlns:p14="http://schemas.microsoft.com/office/powerpoint/2010/main" val="2985243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8942" y="162371"/>
            <a:ext cx="10526446" cy="7862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Problem Statement 5 :</a:t>
            </a:r>
            <a:br>
              <a:rPr lang="en-US" dirty="0" smtClean="0"/>
            </a:br>
            <a:r>
              <a:rPr lang="en-US" dirty="0" smtClean="0"/>
              <a:t>On average, how has the runtime changed over the last 50 years?</a:t>
            </a:r>
          </a:p>
        </p:txBody>
      </p:sp>
      <p:pic>
        <p:nvPicPr>
          <p:cNvPr id="3" name="Picture 2"/>
          <p:cNvPicPr>
            <a:picLocks noChangeAspect="1"/>
          </p:cNvPicPr>
          <p:nvPr/>
        </p:nvPicPr>
        <p:blipFill>
          <a:blip r:embed="rId2"/>
          <a:stretch>
            <a:fillRect/>
          </a:stretch>
        </p:blipFill>
        <p:spPr>
          <a:xfrm>
            <a:off x="828942" y="1234502"/>
            <a:ext cx="10526446" cy="4187861"/>
          </a:xfrm>
          <a:prstGeom prst="rect">
            <a:avLst/>
          </a:prstGeom>
        </p:spPr>
      </p:pic>
      <p:sp>
        <p:nvSpPr>
          <p:cNvPr id="4" name="Rectangle 3"/>
          <p:cNvSpPr/>
          <p:nvPr/>
        </p:nvSpPr>
        <p:spPr>
          <a:xfrm>
            <a:off x="846034" y="5554767"/>
            <a:ext cx="10526446" cy="13032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p>
          <a:p>
            <a:r>
              <a:rPr lang="en-US" dirty="0" smtClean="0"/>
              <a:t>The average runtime of movies has gradually decreased over the last 50 years. Earlier films, especially during the mid-20th century, tended to have longer durations, while modern movies are generally shorter, likely due to changing audience preferences and the rise of digital streaming platforms favoring concise content.</a:t>
            </a:r>
          </a:p>
          <a:p>
            <a:endParaRPr lang="en-US" dirty="0"/>
          </a:p>
        </p:txBody>
      </p:sp>
    </p:spTree>
    <p:extLst>
      <p:ext uri="{BB962C8B-B14F-4D97-AF65-F5344CB8AC3E}">
        <p14:creationId xmlns:p14="http://schemas.microsoft.com/office/powerpoint/2010/main" val="1025500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8942" y="162371"/>
            <a:ext cx="10041308" cy="6494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Problem Statement 6 :</a:t>
            </a:r>
            <a:br>
              <a:rPr lang="en-US" dirty="0" smtClean="0"/>
            </a:br>
            <a:r>
              <a:rPr lang="en-US" dirty="0" smtClean="0"/>
              <a:t>How does age certification of a movie affect its rating?</a:t>
            </a:r>
          </a:p>
        </p:txBody>
      </p:sp>
      <p:pic>
        <p:nvPicPr>
          <p:cNvPr id="3" name="Picture 2"/>
          <p:cNvPicPr>
            <a:picLocks noChangeAspect="1"/>
          </p:cNvPicPr>
          <p:nvPr/>
        </p:nvPicPr>
        <p:blipFill>
          <a:blip r:embed="rId2"/>
          <a:stretch>
            <a:fillRect/>
          </a:stretch>
        </p:blipFill>
        <p:spPr>
          <a:xfrm>
            <a:off x="828942" y="897308"/>
            <a:ext cx="10041308" cy="4091059"/>
          </a:xfrm>
          <a:prstGeom prst="rect">
            <a:avLst/>
          </a:prstGeom>
        </p:spPr>
      </p:pic>
      <p:sp>
        <p:nvSpPr>
          <p:cNvPr id="4" name="Rectangle 3"/>
          <p:cNvSpPr/>
          <p:nvPr/>
        </p:nvSpPr>
        <p:spPr>
          <a:xfrm>
            <a:off x="828942" y="5161661"/>
            <a:ext cx="10543538" cy="16963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We have three insights from this: </a:t>
            </a:r>
          </a:p>
          <a:p>
            <a:r>
              <a:rPr lang="en-US" dirty="0" smtClean="0"/>
              <a:t>● On average, TV shows have higher ratings as compared to movies. </a:t>
            </a:r>
          </a:p>
          <a:p>
            <a:r>
              <a:rPr lang="en-US" dirty="0" smtClean="0"/>
              <a:t>● On average, within TV shows, TV-14 gets the highest rating. </a:t>
            </a:r>
          </a:p>
          <a:p>
            <a:r>
              <a:rPr lang="en-US" dirty="0" smtClean="0"/>
              <a:t>● On average, within Movies, PG-13 movies have the highest rating. This can also be seen from the image above.</a:t>
            </a:r>
          </a:p>
        </p:txBody>
      </p:sp>
    </p:spTree>
    <p:extLst>
      <p:ext uri="{BB962C8B-B14F-4D97-AF65-F5344CB8AC3E}">
        <p14:creationId xmlns:p14="http://schemas.microsoft.com/office/powerpoint/2010/main" val="3927550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8891" y="160153"/>
            <a:ext cx="9618045" cy="4289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FINAL DASHBOARD</a:t>
            </a:r>
          </a:p>
        </p:txBody>
      </p:sp>
      <p:pic>
        <p:nvPicPr>
          <p:cNvPr id="3" name="Picture 2"/>
          <p:cNvPicPr>
            <a:picLocks noChangeAspect="1"/>
          </p:cNvPicPr>
          <p:nvPr/>
        </p:nvPicPr>
        <p:blipFill>
          <a:blip r:embed="rId2"/>
          <a:stretch>
            <a:fillRect/>
          </a:stretch>
        </p:blipFill>
        <p:spPr>
          <a:xfrm>
            <a:off x="808891" y="1002322"/>
            <a:ext cx="9618045" cy="5741377"/>
          </a:xfrm>
          <a:prstGeom prst="rect">
            <a:avLst/>
          </a:prstGeom>
        </p:spPr>
      </p:pic>
    </p:spTree>
    <p:extLst>
      <p:ext uri="{BB962C8B-B14F-4D97-AF65-F5344CB8AC3E}">
        <p14:creationId xmlns:p14="http://schemas.microsoft.com/office/powerpoint/2010/main" val="3771501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1025</Words>
  <Application>Microsoft Office PowerPoint</Application>
  <PresentationFormat>Widescreen</PresentationFormat>
  <Paragraphs>53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Netflix Dataset Case Study and Visualization</vt:lpstr>
      <vt:lpstr>Overview:  </vt:lpstr>
      <vt:lpstr>Dataset Details </vt:lpstr>
      <vt:lpstr>PowerPoint Presentation</vt:lpstr>
      <vt:lpstr>Data Cleaning and Manipulation in Power Query Editor</vt:lpstr>
      <vt:lpstr>PowerPoint Presentation</vt:lpstr>
      <vt:lpstr>Observations: </vt:lpstr>
      <vt:lpstr>Visualisations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Dataset Case Study and Visualization</dc:title>
  <dc:creator>Lenovo</dc:creator>
  <cp:lastModifiedBy>Lenovo</cp:lastModifiedBy>
  <cp:revision>8</cp:revision>
  <dcterms:created xsi:type="dcterms:W3CDTF">2025-11-06T11:02:41Z</dcterms:created>
  <dcterms:modified xsi:type="dcterms:W3CDTF">2025-11-06T13:00:39Z</dcterms:modified>
</cp:coreProperties>
</file>